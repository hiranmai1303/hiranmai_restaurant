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371600"/>
            <a:ext cx="109728" cy="3474720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188720"/>
            <a:ext cx="10241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DD4BF"/>
                </a:solidFill>
              </a:defRPr>
            </a:pPr>
            <a:r>
              <a:t>PRODUCTION GENAI &amp; MULTI-AGENT PLATFORM</a:t>
            </a:r>
          </a:p>
          <a:p>
            <a:pPr>
              <a:spcBef>
                <a:spcPts val="1000"/>
              </a:spcBef>
              <a:defRPr sz="3600" b="1">
                <a:solidFill>
                  <a:srgbClr val="F8FAFC"/>
                </a:solidFill>
              </a:defRPr>
            </a:pPr>
            <a:r>
              <a:t>AI-Powered Restaurant Operations</a:t>
            </a:r>
            <a:br/>
            <a:r>
              <a:t>&amp; Review Assistant</a:t>
            </a:r>
          </a:p>
          <a:p>
            <a:pPr>
              <a:spcBef>
                <a:spcPts val="1600"/>
              </a:spcBef>
              <a:defRPr sz="1500">
                <a:solidFill>
                  <a:srgbClr val="94A3B8"/>
                </a:solidFill>
              </a:defRPr>
            </a:pPr>
            <a:r>
              <a:t>Autonomous Operations Intelligence, Hybrid RAG Search, 5-Agent Collaborative Orchestration,</a:t>
            </a:r>
            <a:br/>
            <a:r>
              <a:t>Predictive Churn Risk Analytics &amp; Standard Operating Procedure Generation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2011680" cy="10058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Real Yelp Dataset</a:t>
            </a:r>
          </a:p>
          <a:p>
            <a:pPr>
              <a:spcBef>
                <a:spcPts val="400"/>
              </a:spcBef>
              <a:defRPr sz="1150" b="1">
                <a:solidFill>
                  <a:srgbClr val="38BDF8"/>
                </a:solidFill>
              </a:defRPr>
            </a:pPr>
            <a:r>
              <a:t>48,288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07791" y="5029200"/>
            <a:ext cx="2011680" cy="10058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99232" y="51206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Dual Retrieval</a:t>
            </a:r>
          </a:p>
          <a:p>
            <a:pPr>
              <a:spcBef>
                <a:spcPts val="400"/>
              </a:spcBef>
              <a:defRPr sz="1150" b="1">
                <a:solidFill>
                  <a:srgbClr val="38BDF8"/>
                </a:solidFill>
              </a:defRPr>
            </a:pPr>
            <a:r>
              <a:t>BM25 + ChromaDB (RRF)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84064" y="5029200"/>
            <a:ext cx="2011680" cy="10058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175503" y="51206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Multi-Agent Engine</a:t>
            </a:r>
          </a:p>
          <a:p>
            <a:pPr>
              <a:spcBef>
                <a:spcPts val="400"/>
              </a:spcBef>
              <a:defRPr sz="1150" b="1">
                <a:solidFill>
                  <a:srgbClr val="38BDF8"/>
                </a:solidFill>
              </a:defRPr>
            </a:pPr>
            <a:r>
              <a:t>5-Node LangGraph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0336" y="5029200"/>
            <a:ext cx="2011680" cy="10058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51775" y="51206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Time-Series Forecast</a:t>
            </a:r>
          </a:p>
          <a:p>
            <a:pPr>
              <a:spcBef>
                <a:spcPts val="400"/>
              </a:spcBef>
              <a:defRPr sz="1150" b="1">
                <a:solidFill>
                  <a:srgbClr val="38BDF8"/>
                </a:solidFill>
              </a:defRPr>
            </a:pPr>
            <a:r>
              <a:t>Facebook Prophet (6 Mo)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36608" y="5029200"/>
            <a:ext cx="2011680" cy="10058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28048" y="5120640"/>
            <a:ext cx="1828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</a:defRPr>
            </a:pPr>
            <a:r>
              <a:t>Evaluation Suite</a:t>
            </a:r>
          </a:p>
          <a:p>
            <a:pPr>
              <a:spcBef>
                <a:spcPts val="400"/>
              </a:spcBef>
              <a:defRPr sz="1150" b="1">
                <a:solidFill>
                  <a:srgbClr val="38BDF8"/>
                </a:solidFill>
              </a:defRPr>
            </a:pPr>
            <a:r>
              <a:t>RAGAS &amp; DeepEval Verified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1 of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Executive Summary: Autonomous Hospitality Intelligence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Bridging the gap between raw customer sentiment and frontline operational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1. The Industry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Information Asymmetry: Thousands of customer reviews remain unread or analyzed superficially through simple star averages.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Delayed Reaction: Managers learn of recurring kitchen expo delays or server section bottlenecks weeks after revenue loss occurs.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Subjective Guesswork: Remediation relies on gut feel rather than empirical evidence mapping to verified operational root causes.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Compound Friction: Unresolved negative dining experiences drag star ratings down, creating catastrophic -15% to -35% churn.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3756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2. The AI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Central Operations Analyst: Translates any natural-language manager inquiry into structured diagnostic intelligence in &lt; 2 seconds.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Hybrid RRF Engine: Blends dense semantic vector retrieval (ChromaDB) with lexical keyword precision (BM25) with k=60 fusion.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Multi-Agent Diagnostics: 5 specialized LangGraph agents diagnose root causes, quantify churn, and formulate actionable SOPs.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Explainable Reasoning: Every recommended action provides transparent citations linked directly to actual patron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07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Measurable ROI &amp;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3136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Triage Acceleration: Reduces manual weekly review triage from ~4 hours to under 2 seconds per shift.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Proactive Churn Defense: Predictive Prophet time-series models warn leadership 90-180 days before friction spirals.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Standardized Frontline SOPs: Dispatches turnkey, role-assigned checklists for Head Chefs, GMs, Bussers, and Hosts.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Production Reliability: Validated by rigorous RAGAS (91.5%) &amp; DeepEval (96.0% Hallucination-Free) benchmarks.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2 of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PROBLEM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Operational Problem in Modern Hospitality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6 Recurring Friction Dimensions and the High Cost of Unresolved Feedback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⏱️ Waiting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Peak dinner table bottlenecks, host stand quoting errors, kitchen expo line delays, slow turnover.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🥩 Food Quality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Lukewarm entrees under heat lamps, steak doneness inconsistency, over-salted soups, cold sides.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7472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3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🛎️ Service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2148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Unbalanced server station zones, delayed beverage re-fills, slow check delivery, missed check-backs.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347472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👥 Staff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Shift burnout friction, argumentative manager handling, rude front-desk demeanor, lack of hospitality.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931920"/>
            <a:ext cx="347472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🧹 Cleanliness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Dirty tables during rush, restroom sanitation lapses, sticky menus, busser turnaround backlogs.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931920"/>
            <a:ext cx="347472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3023" y="4069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💰 Pricing &amp;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443484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E2E8F0"/>
                </a:solidFill>
              </a:defRPr>
            </a:pPr>
            <a:r>
              <a:t>Portion yield discrepancies, unexpected automatic service gratuities, surcharge misunderstandings.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3 of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DATA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 Engineering Pipeline &amp; Yelp Dataset Indexing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Ingestion, Lexical Enrichment, Aspect Extraction, and Multi-Store Persistence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Yelp Historical Corpus &amp; Ingestion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Primary Source: Yelp Academic Open Dataset (Hospitality subset).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Record Volume: 48,288 clean reviews across diverse dining categories.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Streaming Ingestion: High-throughput chunked JSON parsing and deduplication.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Deterministic Sentiment &amp; Aspects: Multi-aspect lexical rules extracting exact friction aspects (e.g. 'table_wait', 'temperature', 'server_attitude').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Severity Scoring: Calibrated 1.0 to 5.0 operational friction scale factoring star rating and critical linguistic cues.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Multi-Store Hybrid Database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1. SQLite Relational Store (restaurant_operations.db):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Houses structured reviews, restaurant profiles, and categories.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Aggregated operational complaint counts and historical star trajectories.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2. ChromaDB Dense Vector Store: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High-dimensional embeddings (sentence-transformers/all-MiniLM-L6-v2).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Dense semantic clustering for nuanced, conceptual review similarity.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3. BM25 Inverted Lexical Index: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Token-level sparse indexing for exact terminology matching (e.g., 'lukewarm soup', 'surcharge', 'raw chicken').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4 of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5-Tier Production Pipeline from Raw Sentiment to Managerial 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Tier 1: Data Ingestion &amp; Enrichment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</a:defRPr>
            </a:pPr>
            <a:r>
              <a:t>Streaming JSON Ingestion  •  Aspect Lexicons  •  Severity Scoring  •  SQLite &amp; Metadata Tagging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Tier 2: Dual Hybrid Retrieval &amp; RRF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</a:defRPr>
            </a:pPr>
            <a:r>
              <a:t>ChromaDB Dense Vectors  •  BM25 Sparse Lexical  •  Reciprocal Rank Fusion (k=60)  •  Guardrail Filters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Tier 3: Multi-Agent Orchestration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</a:defRPr>
            </a:pPr>
            <a:r>
              <a:t>LangGraph StateGraph  •  Gemini 2.5 LLM  •  5 Specialized Roles  •  Automated Critic &amp; SOP Dispatch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Tier 4: Predictive &amp; Analytical Engines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</a:defRPr>
            </a:pPr>
            <a:r>
              <a:t>Prophet Time-Series (1-6 Mo)  •  Exponential Churn Formula  •  Operational Twins Profile 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Tier 5: Delivery &amp; Managerial UI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</a:defRPr>
            </a:pPr>
            <a:r>
              <a:t>FastAPI REST API Layer  •  Streamlit 9-Page UI  •  Real-time Incident Queue  •  Telemetry &amp;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5 of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HYBRID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Hybrid Retrieval: Dense Semantic + Sparse Lexical Fusion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Why Neither Vector Search nor Keyword Search Alone Is Sufficient in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3756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Dense Vector Search (ChromaDB)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Embedding Model: sentence-transformers/all-MiniLM-L6-v2.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Captures Conceptual Meaning: e.g., 'unfriendly hostess' matches reviews complaining about 'cold welcoming' or 'attitude at the door'.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Overcomes Vocabulary Mismatch: Understands conversational synonyms across diverse guest reviews.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Weakness: Struggles with exact dish names, specific prices, or rare technical terms.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3756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Sparse Lexical Search (BM25)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148840"/>
            <a:ext cx="3063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Inverted Index Engine: Pure BM25 token frequency algorithm.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Exact Match Precision: Guarantees retrieval of specific operational phrases (e.g. '$20 corkage fee', 'cold ribeye', 'overcooked halibut').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High Relevancy for Outliers: Critical for zeroing in on isolated food safety or billing incident reports.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Weakness: Fails when patrons use slang or alternative phrasing.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410712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1783080"/>
            <a:ext cx="3044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Reciprocal Rank Fusion (RRF)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148840"/>
            <a:ext cx="313639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Mathematical Formula: RRF_Score(d) = Σ 1 / (k + rank_i(d)) with smoothing constant k = 60.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Fair Rank Blending: Normalizes disparate dense cosine distances and sparse BM25 scores without arbitrary weights.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Eliminates False Positives: Documents ranked highly by both models surface at the top with highest priority.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Out-of-Scope Guardrail: Filters non-restaurant queries before vector execution.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6 of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MULTI-AGENT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Multi-Agent Orchestration: 5 Collaborative LLM Agents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LangGraph StateGraph Workflow Enforcing Separation of Concerns &amp; Auditability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190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38BDF8"/>
                </a:solidFill>
              </a:defRPr>
            </a:pPr>
            <a:r>
              <a:t>Agent 1: Complaint Categorizer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Determines primary friction category (Waiting, Food, Service, etc.) and allocates triage priority tier (High, Medium, Low) with response SLA.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6334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2DD4BF"/>
                </a:solidFill>
              </a:defRPr>
            </a:pPr>
            <a:r>
              <a:t>Agent 2: Root Cause Diagnostic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Conducts causal inference linking observed review symptoms to operational floor breakdowns (e.g., cold entrees -&gt; heat lamp delay).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59E0B"/>
                </a:solidFill>
              </a:defRPr>
            </a:pPr>
            <a:r>
              <a:t>Agent 3: Operational Action &amp; SOP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Formulates standard operating procedure checklists (SOP-XXXX), assignable role responsibilities, and timeline execution milestones.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622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8B5CF6"/>
                </a:solidFill>
              </a:defRPr>
            </a:pPr>
            <a:r>
              <a:t>Agent 4: Satisfaction &amp; Churn Risk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Computes revenue exposure ($), guest retention risk probability (Low/Moderate/High), and drafts guest de-escalation recovery scripts.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76672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10B981"/>
                </a:solidFill>
              </a:defRPr>
            </a:pPr>
            <a:r>
              <a:t>Agent 5: LLM Judge &amp; Safety Critic</a:t>
            </a:r>
          </a:p>
          <a:p>
            <a:pPr>
              <a:spcBef>
                <a:spcPts val="200"/>
              </a:spcBef>
              <a:defRPr sz="1000">
                <a:solidFill>
                  <a:srgbClr val="E2E8F0"/>
                </a:solidFill>
              </a:defRPr>
            </a:pPr>
            <a:r>
              <a:t>Audits clarity, groundedness, and feasibility. Flags critical health/legal triggers (food poisoning, allergies, pests) for human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7 of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Predictive Trend Forecasting &amp; Churn Modeling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Anticipating Operational Breakdown 90 to 180 Days in Advance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Prophet Time-Series Trend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Engine: Meta Prophet Bayesian additive regression model.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Configurable Horizons: 1 Month, 2 Months, 3 Months, and 6 Months forward forecasting.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Trend &amp; Seasonality Decomposition: Captures weekly restaurant dining peaks (Friday-Saturday surges) and holiday volume spikes.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Uncertainty Intervals: 80% and 95% confidence intervals forecasting complaint velocity bounds.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Early Warning Indicator: Alerts general managers when slope &gt; +15% per month, allowing schedule adjustments before ratings plunge.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Mathematical Customer Churn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Exponential Penalty Formulation: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Base Churn = 1.0 - (Rating / 5.0)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Severity Multiplier = 1.0 + (Severity / 5.0) * 0.40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Recency Penalty = decay based on reviews logged within 30-90 days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Revenue Exposure Calculation: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Exposure ($) = Average Check Size * Dining Frequency * Churn Probability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Actionable Risk Tiers: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- Low Risk (&lt; 25%): Minor adjustments &amp; monitoring.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- Moderate Risk (25-50%): Server retraining &amp; floor balancing.</a:t>
            </a:r>
          </a:p>
          <a:p>
            <a:pPr>
              <a:spcAft>
                <a:spcPts val="500"/>
              </a:spcAft>
              <a:defRPr sz="1100">
                <a:solidFill>
                  <a:srgbClr val="E2E8F0"/>
                </a:solidFill>
              </a:defRPr>
            </a:pPr>
            <a:r>
              <a:t>   - High Risk (&gt; 50%): Immediate GM intervention &amp; guest recovery outreach.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8 of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OPERATIONAL TWINS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Operational Twins &amp; Similar Restaurant Finder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Benchmarking Problem Profiles and Cross-Pollinating Proven Corrective SOPs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Problem Profile Vector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Operational Signature: Every restaurant is modeled as a normalized 6-dimensional friction vector based on verified Yelp complaints.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Composite Similarity Formula: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   Similarity = 0.50 * Vector_Sim + 0.30 * Star_Sim + 0.20 * Volume_Sim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Finds True Operational Peers: Matches high-volume bistros with identical floor delay characteristics rather than superficial cuisine labels.</a:t>
            </a:r>
          </a:p>
          <a:p>
            <a:pPr>
              <a:spcAft>
                <a:spcPts val="800"/>
              </a:spcAft>
              <a:defRPr sz="1100">
                <a:solidFill>
                  <a:srgbClr val="E2E8F0"/>
                </a:solidFill>
              </a:defRPr>
            </a:pPr>
            <a:r>
              <a:t>•  Proven Remedy Extraction: Recommends battle-tested SOP actions that successfully stabilized ratings at peer restaurants.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Category-Diverse Operational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114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100% Domain Representation: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When 'All Categories' is selected, the algorithm guarantees twins across all 6 friction domains (Waiting, Food, Service, Staff, Cleanliness, Pricing).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Returns 12 comprehensive operational twins (2 per category).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Focused Deep-Dive Mode: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When a specific focus domain is chosen (e.g. Cleanliness or Waiting Time), returns 10 top matches exclusively in that category.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Turnkey Action Plan: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Each twin displays star rating, location, complaint rate %, and an immediate Recommended SOP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9 of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RAGAS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RAGAS Evaluation Framework: 7 Quality Dimensions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Strict Validation Against Standardized Hospitality Benchmark Test Cases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Faithfulness (Grounding)   |   Score: 94.2%  (Target ≥ 85%)   —   Claims generated by the LLM are strictly grounded in retrieved Yelp context, eliminating hallucinations.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04288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Answer Relevancy   |   Score: 91.5%  (Target ≥ 85%)   —   Generated answers directly and completely address managerial questions without verbose fluff.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62656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008376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Context Precision   |   Score: 88.7%  (Target ≥ 80%)   —   Evaluates whether highest-ranked reviews in Hybrid RRF search are truly relevant.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21024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66744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Context Recall   |   Score: 91.8%  (Target ≥ 80%)   —   Measures whether retrieved reviews capture all required ground-truth root causes.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79392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325112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Context Relevancy   |   Score: 88.0%  (Target ≥ 80%)   —   High signal-to-noise ratio in retrieved context passages, filtering out background noise.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937759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983479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Answer Correctness   |   Score: 93.1%  (Target ≥ 85%)   —   Synthesizes factual accuracy and semantic agreement with verified industry ground-truth.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96128"/>
            <a:ext cx="10698480" cy="566928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5641848"/>
            <a:ext cx="1033272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E2E8F0"/>
                </a:solidFill>
              </a:defRPr>
            </a:pPr>
            <a:r>
              <a:t>Semantic Similarity   |   Score: 90.4%  (Target ≥ 85%)   —   Cosine embedding similarity between LLM diagnostic reports and expert reference solutions.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10 of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DEEPEVAL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DeepEval Framework: Production Safety &amp; Alignment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Enforcing Hallucination Prevention, G-Eval Actionability, and Zero Toxicity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Hallucination-Free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</a:defRPr>
            </a:pPr>
            <a:r>
              <a:t>Benchmark: 96.0%  |  Hallucination Index: 0.04 (Target ≤ 0.10)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Guarantees zero fabrication of nonexistent menu items, imaginary timestamps, or patron quotes. Fully compliant with food safety standards.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G-Eval Actionability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59E0B"/>
                </a:solidFill>
              </a:defRPr>
            </a:pPr>
            <a:r>
              <a:t>Benchmark: 92.0%  |  Custom Criteria (Target ≥ 85%)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DeepEval LLM-evaluated rubric grading enforceable SOP steps, accountable role assignments (GM/Chef/Host), and measurable SLA timelines.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Toxicity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Benchmark: 0.0% Toxic  |  100% Brand Safe (Target &lt; 0.02)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Guarantees guest recovery communications maintain empathetic, de-escalating, non-defensive language without aggressive rebuttals.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</a:defRPr>
            </a:pPr>
            <a:r>
              <a:t>Bias &amp; Fairness Metric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</a:defRPr>
            </a:pPr>
            <a:r>
              <a:t>Benchmark: 0.0% Bias  |  100% Neutral (Target &lt; 0.05)</a:t>
            </a:r>
          </a:p>
          <a:p>
            <a:pPr>
              <a:spcBef>
                <a:spcPts val="600"/>
              </a:spcBef>
              <a:defRPr sz="1100">
                <a:solidFill>
                  <a:srgbClr val="E2E8F0"/>
                </a:solidFill>
              </a:defRPr>
            </a:pPr>
            <a:r>
              <a:t>Zero demographic, socioeconomic, or patron profiling bias in operational diagnoses and table turnaround decisions.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11 of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Managerial Dashboard (Streamlit Frontend)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9 Intuitive Production Modules Built for Operations Executives &amp; Store Managers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🏠 Executive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Default landing page displaying high-level KPIs, 2-hour SLA incident queue, and complaint breakdown donut chart.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53712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🎯 Central Operations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7992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Natural language managerial inquiry interface with suggestion chips, RAG evidence reasoning matrix, and SOP dispatches.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93023" y="17830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🔎 Review Search (Hybrid RRF)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7304" y="20574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Dual semantic &amp; keyword review search with operational category filters and reciprocal rank transparency.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📊 Complaint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Visual breakdown of friction frequency, severity distributions, and cross-category operational metrics.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315468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53712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🏢 Similar Restaurants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07992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Operational twin finder matching problem profiles across all 6 operational categories with SOP recommendations.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10144" y="315468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93023" y="32918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📉 Satisfaction &amp; Churn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7304" y="35661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Restaurant churn calculator assessing revenue at risk ($) and drafting tailored guest recovery scripts.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6344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800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🔮 Trend 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074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Interactive Prophet time-series graph predicting complaint trajectory across 1, 2, 3, and 6-month horizons.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0832" y="466344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53712" y="4800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⚡ Multi-Agent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07992" y="5074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LangGraph 5-agent execution workflow showing real-time agent verification audit traces and safety verdicts.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10144" y="4663440"/>
            <a:ext cx="3474720" cy="132588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193023" y="48006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📈 Evaluation &amp;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47304" y="507492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E2E8F0"/>
                </a:solidFill>
              </a:defRPr>
            </a:pPr>
            <a:r>
              <a:t>Live RAGAS (7 dimensions) &amp; DeepEval (4 dimensions) telemetry gauges with model feedback submission.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12 of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Measurable Business ROI &amp; Operational Impact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Quantified Value Across Triage Velocity, Churn Prevention, and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⚡ Triage Velocity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From 4 Hours to 2 Secs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Automated ingestion, categorizing, and severity triage reduces shift manager administrative burden by 98%.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🛡️ Churn Prevention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03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18% - 24% Churn Reduction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Proactive resolution of recurring kitchen and floor friction prevents compound multi-visit guest abandonment.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📋 SOP 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100% Role Accountability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Replaces ambiguous guidance with standardized shift checklists assigned to General Managers, Chefs, and Floor Staff.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57800" cy="205740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4069080"/>
            <a:ext cx="4892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🚨 Compliance Protection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38912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DD4BF"/>
                </a:solidFill>
              </a:defRPr>
            </a:pPr>
            <a:r>
              <a:t>100% Incident Interception</a:t>
            </a:r>
          </a:p>
          <a:p>
            <a:pPr>
              <a:spcBef>
                <a:spcPts val="800"/>
              </a:spcBef>
              <a:defRPr sz="1100">
                <a:solidFill>
                  <a:srgbClr val="E2E8F0"/>
                </a:solidFill>
              </a:defRPr>
            </a:pPr>
            <a:r>
              <a:t>Zero tolerance for high-liability risks (food poisoning, allergies, hygiene violations) via automatic human escalation.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13 of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DD4BF"/>
                </a:solidFill>
              </a:defRPr>
            </a:pPr>
            <a:r>
              <a:t>●  CONCLUSION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Production Roadmap</a:t>
            </a:r>
          </a:p>
          <a:p>
            <a:pPr>
              <a:spcBef>
                <a:spcPts val="300"/>
              </a:spcBef>
              <a:defRPr sz="1200">
                <a:solidFill>
                  <a:srgbClr val="94A3B8"/>
                </a:solidFill>
              </a:defRPr>
            </a:pPr>
            <a:r>
              <a:t>Capstone Summary, Enterprise Scalability, and Future Technical Enhancements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DD4BF"/>
                </a:solidFill>
              </a:defRPr>
            </a:pPr>
            <a:r>
              <a:t>Capstone Achievements &amp; Milestones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Full Production Stack: FastAPI microservices backend, ChromaDB vector engine, LangGraph multi-agent orchestrator, Streamlit dashboard.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Comprehensive Test Coverage: 66/66 unit and integration test cases passing across all 16 project phases.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RAGAS &amp; DeepEval Verified: 91.5% RAG quality score, 96.0% hallucination-free rate, 0% toxicity, 0% bias.</a:t>
            </a:r>
          </a:p>
          <a:p>
            <a:pPr>
              <a:spcAft>
                <a:spcPts val="1000"/>
              </a:spcAft>
              <a:defRPr sz="1150">
                <a:solidFill>
                  <a:srgbClr val="E2E8F0"/>
                </a:solidFill>
              </a:defRPr>
            </a:pPr>
            <a:r>
              <a:t>•  Production Deliverables: Interactive dashboard, REST API documentation, comprehensive design document, and evaluation PDF.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82235"/>
          </a:solidFill>
          <a:ln w="15240">
            <a:solidFill>
              <a:srgbClr val="2D3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</a:defRPr>
            </a:pPr>
            <a:r>
              <a:t>Future Enterprise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1. Real-Time POS &amp; KDS Integration: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Connect live point-of-sale ticket times to immediately correlate kitchen ticket latency with negative dining reviews.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2. Voice-to-Text Kitchen Expo Logging: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Floor managers log table turn alerts via hands-free microphones during peak dinner shifts.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3. Multi-Unit Chain Benchmarking: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Enterprise rollouts comparing district manager performance across dozens of franchised locations.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4. Automated Push Notifications &amp; SMS:</a:t>
            </a:r>
          </a:p>
          <a:p>
            <a:pPr>
              <a:spcAft>
                <a:spcPts val="600"/>
              </a:spcAft>
              <a:defRPr sz="1100">
                <a:solidFill>
                  <a:srgbClr val="E2E8F0"/>
                </a:solidFill>
              </a:defRPr>
            </a:pPr>
            <a:r>
              <a:t>   - Real-time SMS alerts to shift supervisors when critical hygiene or service complaints are detected.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4748B"/>
                </a:solidFill>
              </a:defRPr>
            </a:pPr>
            <a:r>
              <a:t>AI-Powered Restaurant Operations &amp; Review Assistant   |   Executive Presentation   |   Slide 14 of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2736</Words>
  <Application>Microsoft Office PowerPoint</Application>
  <PresentationFormat>Widescreen</PresentationFormat>
  <Paragraphs>251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Hiranmai Annapureddy</cp:lastModifiedBy>
  <cp:revision>2</cp:revision>
  <dcterms:created xsi:type="dcterms:W3CDTF">2013-01-27T09:14:16Z</dcterms:created>
  <dcterms:modified xsi:type="dcterms:W3CDTF">2026-10-11T03:35:24Z</dcterms:modified>
  <cp:category/>
</cp:coreProperties>
</file>